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C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Athena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8132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5EEEA"/>
                </a:solidFill>
                <a:latin typeface="Aptos"/>
              </a:rPr>
              <a:t>AI Knitting Agent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1EAEF"/>
                </a:solidFill>
                <a:latin typeface="Aptos"/>
              </a:rPr>
              <a:t>From Santoni know-how to an onsite digital workforce for knitting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40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D0DBE2"/>
                </a:solidFill>
                <a:latin typeface="Aptos"/>
              </a:rPr>
              <a:t>Belotti presentation draft | 18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B8C9D3"/>
                </a:solidFill>
                <a:latin typeface="Aptos"/>
              </a:rPr>
              <a:t>Text-only working deck | Athena architecture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Meeting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Three topics for alignment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400">
                <a:solidFill>
                  <a:srgbClr val="121820"/>
                </a:solidFill>
                <a:latin typeface="Aptos"/>
              </a:rPr>
              <a:t>1. AI Knitting Agent Roadmap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400">
                <a:solidFill>
                  <a:srgbClr val="121820"/>
                </a:solidFill>
                <a:latin typeface="Aptos"/>
              </a:rPr>
              <a:t>2. Project Schedule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400">
                <a:solidFill>
                  <a:srgbClr val="121820"/>
                </a:solidFill>
                <a:latin typeface="Aptos"/>
              </a:rPr>
              <a:t>3. Support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C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1. AI Knitting Agent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99923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E2E2"/>
                </a:solidFill>
                <a:latin typeface="Aptos"/>
              </a:rPr>
              <a:t>What Athena is, why it matters, and how the MVP should be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Belotti Presentation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Why Athena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Customer value is moving beyond machine sales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>
                <a:solidFill>
                  <a:srgbClr val="121820"/>
                </a:solidFill>
                <a:latin typeface="Aptos"/>
              </a:rPr>
              <a:t>Knitting customers need faster design-to-sample cycles, better production decisions, and more efficient service support.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>
                <a:solidFill>
                  <a:srgbClr val="121820"/>
                </a:solidFill>
                <a:latin typeface="Aptos"/>
              </a:rPr>
              <a:t>Santoni already owns a strong combination of machine know-how, application expertise, service experience, and customer workflow knowledge.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>
                <a:solidFill>
                  <a:srgbClr val="121820"/>
                </a:solidFill>
                <a:latin typeface="Aptos"/>
              </a:rPr>
              <a:t>Athena turns this know-how into an AI layer that can support design, production, and service decisions in daily customer operations.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>
                <a:solidFill>
                  <a:srgbClr val="121820"/>
                </a:solidFill>
                <a:latin typeface="Aptos"/>
              </a:rPr>
              <a:t>The strategic goal is to move Santoni from machinery supplier to knitting intelligence partner.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Strategic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Athena is not a generic chatbot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566160" cy="40690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4069080"/>
          </a:xfrm>
          <a:prstGeom prst="rect">
            <a:avLst/>
          </a:prstGeom>
          <a:solidFill>
            <a:srgbClr val="0E746F"/>
          </a:solidFill>
          <a:ln>
            <a:solidFill>
              <a:srgbClr val="0E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What Athena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321868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Santoni AI workforce platform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Santoni know-how layer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Workflow assistant for design, production, and service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Future commercial package around measurable customer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566160" cy="40690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54864" cy="4069080"/>
          </a:xfrm>
          <a:prstGeom prst="rect">
            <a:avLst/>
          </a:prstGeom>
          <a:solidFill>
            <a:srgbClr val="5C6770"/>
          </a:solidFill>
          <a:ln>
            <a:solidFill>
              <a:srgbClr val="5C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56362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What Athena is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39112"/>
            <a:ext cx="321868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Not only a Q&amp;A chatbot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Not a replacement for Arachne, SWS, APS, IoT, CRM, or Service System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Not another Style3D or generic design software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Not dependent on full system integration from day 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063240" cy="40690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54864" cy="4069080"/>
          </a:xfrm>
          <a:prstGeom prst="rect">
            <a:avLst/>
          </a:prstGeom>
          <a:solidFill>
            <a:srgbClr val="1C7B5B"/>
          </a:solidFill>
          <a:ln>
            <a:solidFill>
              <a:srgbClr val="1C7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563624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Core 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039112"/>
            <a:ext cx="27157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Santoni machine and process knowledge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Knitting engineering logic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Customer workflow context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Data feedback from real pilots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One platform, multiple workflow workers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20">
                <a:solidFill>
                  <a:srgbClr val="121820"/>
                </a:solidFill>
                <a:latin typeface="Aptos"/>
              </a:rPr>
              <a:t>Interaction Layer: Web, Feishu Bot, Arachne Knit Pilot, and future SWS entry points.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20">
                <a:solidFill>
                  <a:srgbClr val="121820"/>
                </a:solidFill>
                <a:latin typeface="Aptos"/>
              </a:rPr>
              <a:t>Athena Core: orchestration, memory, workflow templates, Santoni knowledge base, governance, and user context.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20">
                <a:solidFill>
                  <a:srgbClr val="121820"/>
                </a:solidFill>
                <a:latin typeface="Aptos"/>
              </a:rPr>
              <a:t>Workflow Template Layer: reusable task logic for design review, manufacturability check, ROI analysis, APS support, service diagnosis, and industry radar.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20">
                <a:solidFill>
                  <a:srgbClr val="121820"/>
                </a:solidFill>
                <a:latin typeface="Aptos"/>
              </a:rPr>
              <a:t>Integration Layer: CRM, CPQ, Service System, APS, IoT, Arachne, SWS, and selected external intelligence sources.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20">
                <a:solidFill>
                  <a:srgbClr val="121820"/>
                </a:solidFill>
                <a:latin typeface="Aptos"/>
              </a:rPr>
              <a:t>Onsite Digital Employees: Design, Production, Service, Maintenance, Application Engineering, Quality, Industry Radar, and PMO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MVP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Three independent MVP tracks on top of Athena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>
                <a:solidFill>
                  <a:srgbClr val="5C6770"/>
                </a:solidFill>
                <a:latin typeface="Aptos"/>
              </a:rPr>
              <a:t>Each MVP can be used independently by its target users, while sharing the same Athena Core, knowledge base, and workflow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566160" cy="33375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54864" cy="3337560"/>
          </a:xfrm>
          <a:prstGeom prst="rect">
            <a:avLst/>
          </a:prstGeom>
          <a:solidFill>
            <a:srgbClr val="0E746F"/>
          </a:solidFill>
          <a:ln>
            <a:solidFill>
              <a:srgbClr val="0E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20370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Design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79192"/>
            <a:ext cx="3218688" cy="256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Users: designers, ODM teams, application engineers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Value: design-to-sample efficiency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First proof: yarn, structure, fabric effect, and manufacturability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2057400"/>
            <a:ext cx="3566160" cy="33375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2057400"/>
            <a:ext cx="54864" cy="3337560"/>
          </a:xfrm>
          <a:prstGeom prst="rect">
            <a:avLst/>
          </a:prstGeom>
          <a:solidFill>
            <a:srgbClr val="1C7B5B"/>
          </a:solidFill>
          <a:ln>
            <a:solidFill>
              <a:srgbClr val="1C7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20370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Production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79192"/>
            <a:ext cx="3218688" cy="256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Users: OEM owners, production managers, planners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Value: order acceptance, ROI, capacity, and scheduling decisions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First proof: ROI calculator and order decision assistant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57400"/>
            <a:ext cx="3566160" cy="33375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057400"/>
            <a:ext cx="54864" cy="3337560"/>
          </a:xfrm>
          <a:prstGeom prst="rect">
            <a:avLst/>
          </a:prstGeom>
          <a:solidFill>
            <a:srgbClr val="637182"/>
          </a:solidFill>
          <a:ln>
            <a:solidFill>
              <a:srgbClr val="637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220370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Service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679192"/>
            <a:ext cx="3218688" cy="256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Users: customer engineers, Santoni service teams, agents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Value: faster diagnosis and better service knowledge reuse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First proof: alarm diagnosis, troubleshooting, and case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MVP Track 1: Design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Design request to engineering-ready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Starting point: customer design intent, product function, reference image, Style3D/CLO/AI image input, or Arachne parameterized design.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Core output: recommended yarn, fabric structure, knitting feasibility, likely handfeel/performance, and engineering brief for sampling.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Arachne Knit Pilot can become the first visual and parameterized design entry for MVP demos.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SWS remains an advanced future package for richer sampling logic, simulation, and professional design workflow.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Required knowledge base: yarn library, fabric structure library, swatch library, garment library, and performance test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MVP Track 2: Production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Order acceptance, ROI, and scheduling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Starting point: incoming order, product specification, delivery date, available machines, material readiness, capacity, cost, and historical performance.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Core output: accept / reject / renegotiate recommendation, expected ROI, risk factors, bottleneck forecast, and suggested production plan.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APS can provide the production planning context; IoT can later provide machine status and execution feedback.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First MVP should start with ROI and order decision logic before full automation.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Business value: help OEM owners decide which orders are worth taking and how to improve profitability.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MVP Track 3: Service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Fast diagnosis and service knowledge reuse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Starting point: machine model, alarm code, symptom, customer description, images/videos, IoT status, and historical service cases.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Core output: likely root cause, troubleshooting steps, safety reminders, required parts/tools, escalation path, and case summary.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This is the fastest MVP to build because it can begin with manuals, alarm codes, and service case retrieval before deep system integration.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Later integration: Service System, IoT, spare parts, warranty, customer history, and remote support workflow.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>
                <a:solidFill>
                  <a:srgbClr val="121820"/>
                </a:solidFill>
                <a:latin typeface="Aptos"/>
              </a:rPr>
              <a:t>Business value: shorter downtime, better first-time fix rate, and stronger Santoni service consistency.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Roadmap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Start narrow, prove value, then connect more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743200" cy="42519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54864" cy="4251960"/>
          </a:xfrm>
          <a:prstGeom prst="rect">
            <a:avLst/>
          </a:prstGeom>
          <a:solidFill>
            <a:srgbClr val="0E746F"/>
          </a:solidFill>
          <a:ln>
            <a:solidFill>
              <a:srgbClr val="0E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09344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Phase 1</a:t>
            </a:r>
            <a:br/>
            <a:r>
              <a:t>MVP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2"/>
            <a:ext cx="2395728" cy="348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Three independent tracks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Text-based workflow demo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Knowledge base prototype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Arachne/Web as practical entries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1463040"/>
            <a:ext cx="2743200" cy="42519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39312" y="1463040"/>
            <a:ext cx="54864" cy="4251960"/>
          </a:xfrm>
          <a:prstGeom prst="rect">
            <a:avLst/>
          </a:prstGeom>
          <a:solidFill>
            <a:srgbClr val="1C7B5B"/>
          </a:solidFill>
          <a:ln>
            <a:solidFill>
              <a:srgbClr val="1C7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609344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Phase 2</a:t>
            </a:r>
            <a:br/>
            <a:r>
              <a:t>Data connection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084832"/>
            <a:ext cx="2395728" cy="348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Service cases and manuals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Yarn/fabric/swatch/test data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APS and IoT selected data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CRM/CPQ context by use 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1968" y="1463040"/>
            <a:ext cx="2743200" cy="42519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01968" y="1463040"/>
            <a:ext cx="54864" cy="4251960"/>
          </a:xfrm>
          <a:prstGeom prst="rect">
            <a:avLst/>
          </a:prstGeom>
          <a:solidFill>
            <a:srgbClr val="637182"/>
          </a:solidFill>
          <a:ln>
            <a:solidFill>
              <a:srgbClr val="637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6" y="1609344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Phase 3</a:t>
            </a:r>
            <a:br/>
            <a: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084832"/>
            <a:ext cx="2395728" cy="348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Internal pilot first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Friendly customer pilot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ROI and adoption metrics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Security and governance hardening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463040"/>
            <a:ext cx="2560320" cy="425196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55480" y="1463040"/>
            <a:ext cx="54864" cy="4251960"/>
          </a:xfrm>
          <a:prstGeom prst="rect">
            <a:avLst/>
          </a:prstGeom>
          <a:solidFill>
            <a:srgbClr val="896837"/>
          </a:solidFill>
          <a:ln>
            <a:solidFill>
              <a:srgbClr val="896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6648" y="1609344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Phase 4</a:t>
            </a:r>
            <a:br/>
            <a:r>
              <a:t>Commercial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2"/>
            <a:ext cx="2212848" cy="348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Basic / advanced packages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SWS advanced integration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Sales enablement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Repeatable deployment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C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2. Project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99923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E2E2"/>
                </a:solidFill>
                <a:latin typeface="Aptos"/>
              </a:rPr>
              <a:t>A practical timeline from v1.0 alignment to customer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Belotti Presentation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Proposed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Draft timeline for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0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Period</a:t>
                      </a:r>
                    </a:p>
                  </a:txBody>
                  <a:tcPr>
                    <a:solidFill>
                      <a:srgbClr val="16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Key work</a:t>
                      </a:r>
                    </a:p>
                  </a:txBody>
                  <a:tcPr>
                    <a:solidFill>
                      <a:srgbClr val="162C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June 2026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Architecture v1.0 alignment; confirm three MVP tracks; assign owners; define MVP data boundaries.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July 2026</a:t>
                      </a:r>
                    </a:p>
                  </a:txBody>
                  <a:tcPr marL="73152" marR="7315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Build workflow templates; define data schemas; prepare knowledge base ingestion; start Design and Service prototypes.</a:t>
                      </a:r>
                    </a:p>
                  </a:txBody>
                  <a:tcPr marL="73152" marR="73152">
                    <a:solidFill>
                      <a:srgbClr val="F4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August 2026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Internal demo: Design Agent + Service Agent; Production Agent ROI prototype; Arachne entry test.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September 2026</a:t>
                      </a:r>
                    </a:p>
                  </a:txBody>
                  <a:tcPr marL="73152" marR="7315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Internal pilot with Sales, Service, Application, Arachne, APS, and IoT teams; collect feedback and metrics.</a:t>
                      </a:r>
                    </a:p>
                  </a:txBody>
                  <a:tcPr marL="73152" marR="73152">
                    <a:solidFill>
                      <a:srgbClr val="F4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Q4 2026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Selected customer pilot; connect limited live data; validate ROI, adoption, service efficiency, and deployment model.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2027</a:t>
                      </a:r>
                    </a:p>
                  </a:txBody>
                  <a:tcPr marL="73152" marR="7315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21820"/>
                          </a:solidFill>
                          <a:latin typeface="Aptos"/>
                        </a:rPr>
                        <a:t>Commercial package definition; advanced SWS package; broader rollout and GTM enablement.</a:t>
                      </a:r>
                    </a:p>
                  </a:txBody>
                  <a:tcPr marL="73152" marR="73152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Where we are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Athena architecture v1.0 has been defined and documented.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Athena and Arachne naming is clarified: Athena is the AI platform; Arachne Knit Pilot is the customer-facing parameterized design entry.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Key systems and data sources are identified: CRM, CPQ, Service System, APS, IoT, Arachne, SWS, and external intelligence sources.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Knowledge base scope is defined: machine alarms, service diagnosis, service cases, yarn, fabric structures, swatches, garment products, manuals, and performance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Project progress management has been created, but module status still needs department owner confirmation and data-driven updating.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Key Risks and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Main points to manage before customer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834640" cy="42976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4297680"/>
          </a:xfrm>
          <a:prstGeom prst="rect">
            <a:avLst/>
          </a:prstGeom>
          <a:solidFill>
            <a:srgbClr val="0E746F"/>
          </a:solidFill>
          <a:ln>
            <a:solidFill>
              <a:srgbClr val="0E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Scope creep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2487168" cy="352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Keep three MVP tracks separate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Define clear first user and first output for each track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Avoid full system integration as the first milestone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17320"/>
            <a:ext cx="2834640" cy="42976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417320"/>
            <a:ext cx="54864" cy="4297680"/>
          </a:xfrm>
          <a:prstGeom prst="rect">
            <a:avLst/>
          </a:prstGeom>
          <a:solidFill>
            <a:srgbClr val="1C7B5B"/>
          </a:solidFill>
          <a:ln>
            <a:solidFill>
              <a:srgbClr val="1C7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563624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039112"/>
            <a:ext cx="2487168" cy="352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Start with curated data sets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Use standard schemas for yarn, fabric, swatch, test, alarm, and service cases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Track confidence and source for every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417320"/>
            <a:ext cx="2834640" cy="42976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417320"/>
            <a:ext cx="54864" cy="4297680"/>
          </a:xfrm>
          <a:prstGeom prst="rect">
            <a:avLst/>
          </a:prstGeom>
          <a:solidFill>
            <a:srgbClr val="637182"/>
          </a:solidFill>
          <a:ln>
            <a:solidFill>
              <a:srgbClr val="637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1563624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Adoption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039112"/>
            <a:ext cx="2487168" cy="352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Design for real users, not only demos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Show personal benefit for planners, engineers, and service teams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Measure time saved and decision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417320"/>
            <a:ext cx="2514600" cy="4297680"/>
          </a:xfrm>
          <a:prstGeom prst="roundRect">
            <a:avLst/>
          </a:prstGeom>
          <a:solidFill>
            <a:srgbClr val="F4F7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55480" y="1417320"/>
            <a:ext cx="54864" cy="4297680"/>
          </a:xfrm>
          <a:prstGeom prst="rect">
            <a:avLst/>
          </a:prstGeom>
          <a:solidFill>
            <a:srgbClr val="896837"/>
          </a:solidFill>
          <a:ln>
            <a:solidFill>
              <a:srgbClr val="896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6648" y="1563624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62C44"/>
                </a:solidFill>
                <a:latin typeface="Aptos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39112"/>
            <a:ext cx="2167128" cy="352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Internal deployment first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Customer pilot with controlled data access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40">
                <a:solidFill>
                  <a:srgbClr val="121820"/>
                </a:solidFill>
                <a:latin typeface="Aptos"/>
              </a:rPr>
              <a:t>Clear API and permission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C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3. Support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99923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E2E2"/>
                </a:solidFill>
                <a:latin typeface="Aptos"/>
              </a:rPr>
              <a:t>Decisions and resources required to turn Athena into executable MVPs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Belotti Presentation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Support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What we need from management and cross-functional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Strategic approval: confirm Athena as Santoni's AI workforce platform direction, not a side experiment.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MVP approval: confirm Design Agent, Production Agent, and Service Agent as the first three independent MVP tracks.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Owner assignment: appoint owners for Athena Core, Arachne, SWS, APS, IoT, Service System, CRM/CPQ, and each MVP track.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Data access: approve access to manuals, alarms, service cases, yarn/fabric/swatch/test data, selected order and production data, and pilot customer context.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Pilot resources: select internal pilot teams and 1-2 friendly customers for controlled validation.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Deployment support: start with internal/local server deployment; prepare secure customer pilot deployment after MVP validation.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70">
                <a:solidFill>
                  <a:srgbClr val="121820"/>
                </a:solidFill>
                <a:latin typeface="Aptos"/>
              </a:rPr>
              <a:t>Commercial support: define basic/advanced packages, pricing logic, GTM narrative, and sales enablement materials.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62C44"/>
                </a:solidFill>
                <a:latin typeface="Aptos"/>
              </a:rPr>
              <a:t>Decision Points for Belotti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C6770"/>
                </a:solidFill>
                <a:latin typeface="Aptos"/>
              </a:rPr>
              <a:t>The meeting should end with executable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AE2E8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1. Confirm Athena as an official Santoni-level AI initiative.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2. Confirm the three MVP tracks: Design Agent, Production Agent, and Service Agent.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3. Confirm the first 90-day focus and success metrics for each MVP track.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4. Assign responsible owners and cross-functional contacts.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5. Approve priority data access and pilot customer preparation.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50">
                <a:solidFill>
                  <a:srgbClr val="121820"/>
                </a:solidFill>
                <a:latin typeface="Aptos"/>
              </a:rPr>
              <a:t>6. Agree on the next management checkpoint and demo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770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77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C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659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Athena: from machine know-how to customer operating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7889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5EEEA"/>
                </a:solidFill>
                <a:latin typeface="Aptos"/>
              </a:rPr>
              <a:t>The MVP should prove value in three daily workflows: design, production, and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40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D0DBE2"/>
                </a:solidFill>
                <a:latin typeface="Aptos"/>
              </a:rPr>
              <a:t>Draft for discussion | 18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
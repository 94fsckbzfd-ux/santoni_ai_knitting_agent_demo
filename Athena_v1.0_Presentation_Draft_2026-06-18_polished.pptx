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15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3955858" y="1398610"/>
            <a:ext cx="7740351" cy="924938"/>
          </a:xfrm>
        </p:spPr>
        <p:txBody>
          <a:bodyPr anchor="b">
            <a:normAutofit/>
          </a:bodyPr>
          <a:lstStyle>
            <a:lvl1pPr algn="l">
              <a:defRPr sz="48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Content </a:t>
            </a:r>
            <a:r>
              <a:rPr lang="zh-CN" altLang="en-US" dirty="0"/>
              <a:t>目录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3955858" y="2535583"/>
            <a:ext cx="7740351" cy="2631956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 dirty="0"/>
              <a:t>Text</a:t>
            </a:r>
          </a:p>
          <a:p>
            <a:r>
              <a:rPr lang="zh-CN" altLang="en-US" dirty="0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270588C-BAC9-44F7-9717-4A76607B1BAC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89E8D96-C457-4D53-8BC0-3F1BEEA049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22061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178339" y="1151421"/>
            <a:ext cx="10515600" cy="787814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Title text </a:t>
            </a:r>
            <a:r>
              <a:rPr lang="zh-CN" altLang="en-US" dirty="0"/>
              <a:t>标题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270588C-BAC9-44F7-9717-4A76607B1BAC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89E8D96-C457-4D53-8BC0-3F1BEEA049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4244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9438813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7345213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6699983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433560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2647235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33250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0053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Relationship Id="rId11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786186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9A9D23-F2D7-F091-E65E-CC41AF113DD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wrap="square" lIns="27432" rIns="27432" tIns="18288" bIns="18288">
            <a:normAutofit fontScale="90000"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3900" b="1">
                <a:solidFill>
                  <a:srgbClr val="1F2933"/>
                </a:solidFill>
                <a:latin typeface="Aptos"/>
              </a:rPr>
              <a:t>Athena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3B1489A-9993-B378-4C8A-754112B0E5A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wrap="square" lIns="27432" rIns="27432" tIns="18288" bIns="18288"/>
          <a:lstStyle/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2600" b="1">
                <a:solidFill>
                  <a:srgbClr val="1F2933"/>
                </a:solidFill>
                <a:latin typeface="Aptos"/>
              </a:rPr>
              <a:t>AI Knitting Agent Roadmap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450" b="0">
                <a:solidFill>
                  <a:srgbClr val="525E69"/>
                </a:solidFill>
                <a:latin typeface="Aptos"/>
              </a:rPr>
              <a:t>From Santoni know-how to an onsite digital workforce for knitting customers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050" b="0">
                <a:solidFill>
                  <a:srgbClr val="707C87"/>
                </a:solidFill>
                <a:latin typeface="Aptos"/>
              </a:rPr>
              <a:t>Belotti presentation draft | 18 June 2026</a:t>
            </a:r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E6AA7C68-7201-C521-830C-831B0BCA7D03}"/>
              </a:ext>
            </a:extLst>
          </p:cNvPr>
          <p:cNvSpPr txBox="1"/>
          <p:nvPr/>
        </p:nvSpPr>
        <p:spPr>
          <a:xfrm>
            <a:off x="8093898" y="6220046"/>
            <a:ext cx="3602311" cy="25391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500"/>
              </a:spcAft>
            </a:pPr>
            <a:r>
              <a:rPr sz="950" b="0">
                <a:solidFill>
                  <a:srgbClr val="707C87"/>
                </a:solidFill>
                <a:latin typeface="Aptos"/>
              </a:rPr>
              <a:t>Text-only working deck | Athena architecture v1.0</a:t>
            </a:r>
          </a:p>
        </p:txBody>
      </p:sp>
      <p:sp>
        <p:nvSpPr>
          <p:cNvPr id="5" name="Rectangle 4"/>
          <p:cNvSpPr/>
          <p:nvPr/>
        </p:nvSpPr>
        <p:spPr>
          <a:xfrm>
            <a:off x="3977639" y="2258568"/>
            <a:ext cx="2926080" cy="41148"/>
          </a:xfrm>
          <a:prstGeom prst="rect">
            <a:avLst/>
          </a:prstGeom>
          <a:solidFill>
            <a:srgbClr val="C41E3A"/>
          </a:solidFill>
          <a:ln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4117889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47472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2500" b="1" dirty="0">
                <a:solidFill>
                  <a:srgbClr val="1F2933"/>
                </a:solidFill>
                <a:latin typeface="Aptos"/>
              </a:rPr>
              <a:t>Meeting 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69848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50" b="0">
                <a:solidFill>
                  <a:srgbClr val="525E69"/>
                </a:solidFill>
                <a:latin typeface="Aptos"/>
              </a:rPr>
              <a:t>Three topics for alignment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11064240" cy="18288"/>
          </a:xfrm>
          <a:prstGeom prst="rect">
            <a:avLst/>
          </a:prstGeom>
          <a:solidFill>
            <a:srgbClr val="C41E3A"/>
          </a:solidFill>
          <a:ln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607040" cy="31089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2400" b="0">
                <a:solidFill>
                  <a:srgbClr val="1F2933"/>
                </a:solidFill>
                <a:latin typeface="Aptos"/>
              </a:rPr>
              <a:t>1. AI Knitting Agent Roadmap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2400" b="0">
                <a:solidFill>
                  <a:srgbClr val="1F2933"/>
                </a:solidFill>
                <a:latin typeface="Aptos"/>
              </a:rPr>
              <a:t>2. Project Schedule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2400" b="0">
                <a:solidFill>
                  <a:srgbClr val="1F2933"/>
                </a:solidFill>
                <a:latin typeface="Aptos"/>
              </a:rPr>
              <a:t>3. Support Needed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68580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707C87"/>
                </a:solidFill>
                <a:latin typeface="Aptos"/>
              </a:rPr>
              <a:t>Athena | AI Knitting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7315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707C87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2D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331720"/>
            <a:ext cx="1060704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Aptos"/>
              </a:rPr>
              <a:t>1. AI Knitting Agent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2999232"/>
            <a:ext cx="978408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500" b="0">
                <a:solidFill>
                  <a:srgbClr val="DAE6EC"/>
                </a:solidFill>
                <a:latin typeface="Aptos"/>
              </a:rPr>
              <a:t>What Athena is, why it matters, and how the MVP should be structured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68580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850" b="0">
                <a:solidFill>
                  <a:srgbClr val="C4D3DD"/>
                </a:solidFill>
                <a:latin typeface="Aptos"/>
              </a:rPr>
              <a:t>Athena | Belotti Presentation Draft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7315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500"/>
              </a:spcAft>
            </a:pPr>
            <a:r>
              <a:rPr sz="850" b="0">
                <a:solidFill>
                  <a:srgbClr val="C4D3DD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47472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2500" b="1">
                <a:solidFill>
                  <a:srgbClr val="1F2933"/>
                </a:solidFill>
                <a:latin typeface="Aptos"/>
              </a:rPr>
              <a:t>Why Athena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69848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50" b="0">
                <a:solidFill>
                  <a:srgbClr val="525E69"/>
                </a:solidFill>
                <a:latin typeface="Aptos"/>
              </a:rPr>
              <a:t>Customer value is moving beyond machine sales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11064240" cy="18288"/>
          </a:xfrm>
          <a:prstGeom prst="rect">
            <a:avLst/>
          </a:prstGeom>
          <a:solidFill>
            <a:srgbClr val="C41E3A"/>
          </a:solidFill>
          <a:ln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481328"/>
            <a:ext cx="10789920" cy="41148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700" b="0">
                <a:solidFill>
                  <a:srgbClr val="1F2933"/>
                </a:solidFill>
                <a:latin typeface="Aptos"/>
              </a:rPr>
              <a:t>Knitting customers need faster design-to-sample cycles, better production decisions, and more efficient service support.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700" b="0">
                <a:solidFill>
                  <a:srgbClr val="1F2933"/>
                </a:solidFill>
                <a:latin typeface="Aptos"/>
              </a:rPr>
              <a:t>Santoni already owns a strong combination of machine know-how, application expertise, service experience, and customer workflow knowledge.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700" b="0">
                <a:solidFill>
                  <a:srgbClr val="1F2933"/>
                </a:solidFill>
                <a:latin typeface="Aptos"/>
              </a:rPr>
              <a:t>Athena turns this know-how into an AI layer that can support design, production, and service decisions in daily customer operations.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700" b="0">
                <a:solidFill>
                  <a:srgbClr val="1F2933"/>
                </a:solidFill>
                <a:latin typeface="Aptos"/>
              </a:rPr>
              <a:t>The strategic goal is to move Santoni from machinery supplier to knitting intelligence partner.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68580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707C87"/>
                </a:solidFill>
                <a:latin typeface="Aptos"/>
              </a:rPr>
              <a:t>Athena | AI Knitting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7315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707C87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47472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2500" b="1">
                <a:solidFill>
                  <a:srgbClr val="1F2933"/>
                </a:solidFill>
                <a:latin typeface="Aptos"/>
              </a:rPr>
              <a:t>Strategic Positioning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69848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50" b="0">
                <a:solidFill>
                  <a:srgbClr val="525E69"/>
                </a:solidFill>
                <a:latin typeface="Aptos"/>
              </a:rPr>
              <a:t>Athena is not a generic chatbot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11064240" cy="18288"/>
          </a:xfrm>
          <a:prstGeom prst="rect">
            <a:avLst/>
          </a:prstGeom>
          <a:solidFill>
            <a:srgbClr val="C41E3A"/>
          </a:solidFill>
          <a:ln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566160" cy="4069080"/>
          </a:xfrm>
          <a:prstGeom prst="roundRect">
            <a:avLst/>
          </a:prstGeom>
          <a:solidFill>
            <a:srgbClr val="F7F9FA"/>
          </a:solidFill>
          <a:ln w="10160">
            <a:solidFill>
              <a:srgbClr val="DA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54864" cy="4069080"/>
          </a:xfrm>
          <a:prstGeom prst="rect">
            <a:avLst/>
          </a:prstGeom>
          <a:solidFill>
            <a:srgbClr val="C41E3A"/>
          </a:solidFill>
          <a:ln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563624"/>
            <a:ext cx="3218688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450" b="1">
                <a:solidFill>
                  <a:srgbClr val="1F2933"/>
                </a:solidFill>
                <a:latin typeface="Aptos"/>
              </a:rPr>
              <a:t>What Athena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039112"/>
            <a:ext cx="3218688" cy="33009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140" b="0">
                <a:solidFill>
                  <a:srgbClr val="1F2933"/>
                </a:solidFill>
                <a:latin typeface="Aptos"/>
              </a:rPr>
              <a:t>Santoni AI workforce platform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140" b="0">
                <a:solidFill>
                  <a:srgbClr val="1F2933"/>
                </a:solidFill>
                <a:latin typeface="Aptos"/>
              </a:rPr>
              <a:t>Santoni know-how layer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140" b="0">
                <a:solidFill>
                  <a:srgbClr val="1F2933"/>
                </a:solidFill>
                <a:latin typeface="Aptos"/>
              </a:rPr>
              <a:t>Workflow assistant for design, production, and service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140" b="0">
                <a:solidFill>
                  <a:srgbClr val="1F2933"/>
                </a:solidFill>
                <a:latin typeface="Aptos"/>
              </a:rPr>
              <a:t>Future commercial package around measurable customer value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417320"/>
            <a:ext cx="3566160" cy="4069080"/>
          </a:xfrm>
          <a:prstGeom prst="roundRect">
            <a:avLst/>
          </a:prstGeom>
          <a:solidFill>
            <a:srgbClr val="F7F9FA"/>
          </a:solidFill>
          <a:ln w="10160">
            <a:solidFill>
              <a:srgbClr val="DA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80560" y="1417320"/>
            <a:ext cx="54864" cy="4069080"/>
          </a:xfrm>
          <a:prstGeom prst="rect">
            <a:avLst/>
          </a:prstGeom>
          <a:solidFill>
            <a:srgbClr val="11746F"/>
          </a:solidFill>
          <a:ln>
            <a:solidFill>
              <a:srgbClr val="1174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81728" y="1563624"/>
            <a:ext cx="3218688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450" b="1">
                <a:solidFill>
                  <a:srgbClr val="1F2933"/>
                </a:solidFill>
                <a:latin typeface="Aptos"/>
              </a:rPr>
              <a:t>What Athena is not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1728" y="2039112"/>
            <a:ext cx="3218688" cy="33009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140" b="0">
                <a:solidFill>
                  <a:srgbClr val="1F2933"/>
                </a:solidFill>
                <a:latin typeface="Aptos"/>
              </a:rPr>
              <a:t>Not only a Q&amp;A chatbot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140" b="0">
                <a:solidFill>
                  <a:srgbClr val="1F2933"/>
                </a:solidFill>
                <a:latin typeface="Aptos"/>
              </a:rPr>
              <a:t>Not a replacement for Arachne, SWS, APS, IoT, CRM, or Service System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140" b="0">
                <a:solidFill>
                  <a:srgbClr val="1F2933"/>
                </a:solidFill>
                <a:latin typeface="Aptos"/>
              </a:rPr>
              <a:t>Not another Style3D or generic design software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140" b="0">
                <a:solidFill>
                  <a:srgbClr val="1F2933"/>
                </a:solidFill>
                <a:latin typeface="Aptos"/>
              </a:rPr>
              <a:t>Not dependent on full system integration from day one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1417320"/>
            <a:ext cx="3063240" cy="4069080"/>
          </a:xfrm>
          <a:prstGeom prst="roundRect">
            <a:avLst/>
          </a:prstGeom>
          <a:solidFill>
            <a:srgbClr val="F7F9FA"/>
          </a:solidFill>
          <a:ln w="10160">
            <a:solidFill>
              <a:srgbClr val="DA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275320" y="1417320"/>
            <a:ext cx="54864" cy="4069080"/>
          </a:xfrm>
          <a:prstGeom prst="rect">
            <a:avLst/>
          </a:prstGeom>
          <a:solidFill>
            <a:srgbClr val="327E58"/>
          </a:solidFill>
          <a:ln>
            <a:solidFill>
              <a:srgbClr val="327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76488" y="1563624"/>
            <a:ext cx="2715768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450" b="1">
                <a:solidFill>
                  <a:srgbClr val="1F2933"/>
                </a:solidFill>
                <a:latin typeface="Aptos"/>
              </a:rPr>
              <a:t>Core moat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6488" y="2039112"/>
            <a:ext cx="2715768" cy="33009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140" b="0">
                <a:solidFill>
                  <a:srgbClr val="1F2933"/>
                </a:solidFill>
                <a:latin typeface="Aptos"/>
              </a:rPr>
              <a:t>Santoni machine and process knowledge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140" b="0">
                <a:solidFill>
                  <a:srgbClr val="1F2933"/>
                </a:solidFill>
                <a:latin typeface="Aptos"/>
              </a:rPr>
              <a:t>Knitting engineering logic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140" b="0">
                <a:solidFill>
                  <a:srgbClr val="1F2933"/>
                </a:solidFill>
                <a:latin typeface="Aptos"/>
              </a:rPr>
              <a:t>Customer workflow context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140" b="0">
                <a:solidFill>
                  <a:srgbClr val="1F2933"/>
                </a:solidFill>
                <a:latin typeface="Aptos"/>
              </a:rPr>
              <a:t>Data feedback from real pilots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68580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707C87"/>
                </a:solidFill>
                <a:latin typeface="Aptos"/>
              </a:rPr>
              <a:t>Athena | AI Knitting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473952"/>
            <a:ext cx="7315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707C87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47472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2500" b="1">
                <a:solidFill>
                  <a:srgbClr val="1F2933"/>
                </a:solidFill>
                <a:latin typeface="Aptos"/>
              </a:rPr>
              <a:t>Architecture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69848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50" b="0">
                <a:solidFill>
                  <a:srgbClr val="525E69"/>
                </a:solidFill>
                <a:latin typeface="Aptos"/>
              </a:rPr>
              <a:t>One platform, multiple workflow workers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11064240" cy="18288"/>
          </a:xfrm>
          <a:prstGeom prst="rect">
            <a:avLst/>
          </a:prstGeom>
          <a:solidFill>
            <a:srgbClr val="C41E3A"/>
          </a:solidFill>
          <a:ln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881360" cy="44805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700" b="0">
                <a:solidFill>
                  <a:srgbClr val="1F2933"/>
                </a:solidFill>
                <a:latin typeface="Aptos"/>
              </a:rPr>
              <a:t>Interaction Layer: Web, Feishu Bot, Arachne Knit Pilot, and future SWS entry points.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700" b="0">
                <a:solidFill>
                  <a:srgbClr val="1F2933"/>
                </a:solidFill>
                <a:latin typeface="Aptos"/>
              </a:rPr>
              <a:t>Athena Core: orchestration, memory, workflow templates, Santoni knowledge base, governance, and user context.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700" b="0">
                <a:solidFill>
                  <a:srgbClr val="1F2933"/>
                </a:solidFill>
                <a:latin typeface="Aptos"/>
              </a:rPr>
              <a:t>Workflow Template Layer: reusable task logic for design review, manufacturability check, ROI analysis, APS support, service diagnosis, and industry radar.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700" b="0">
                <a:solidFill>
                  <a:srgbClr val="1F2933"/>
                </a:solidFill>
                <a:latin typeface="Aptos"/>
              </a:rPr>
              <a:t>Integration Layer: CRM, CPQ, Service System, APS, IoT, Arachne, SWS, and selected external intelligence sources.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700" b="0">
                <a:solidFill>
                  <a:srgbClr val="1F2933"/>
                </a:solidFill>
                <a:latin typeface="Aptos"/>
              </a:rPr>
              <a:t>Onsite Digital Employees: Design, Production, Service, Maintenance, Application Engineering, Quality, Industry Radar, and PMO agents.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68580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707C87"/>
                </a:solidFill>
                <a:latin typeface="Aptos"/>
              </a:rPr>
              <a:t>Athena | AI Knitting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7315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707C87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47472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2500" b="1">
                <a:solidFill>
                  <a:srgbClr val="1F2933"/>
                </a:solidFill>
                <a:latin typeface="Aptos"/>
              </a:rPr>
              <a:t>MVP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69848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50" b="0">
                <a:solidFill>
                  <a:srgbClr val="525E69"/>
                </a:solidFill>
                <a:latin typeface="Aptos"/>
              </a:rPr>
              <a:t>Three independent MVP tracks on top of Athena Core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11064240" cy="18288"/>
          </a:xfrm>
          <a:prstGeom prst="rect">
            <a:avLst/>
          </a:prstGeom>
          <a:solidFill>
            <a:srgbClr val="C41E3A"/>
          </a:solidFill>
          <a:ln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607040" cy="457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50" b="0">
                <a:solidFill>
                  <a:srgbClr val="1F2933"/>
                </a:solidFill>
                <a:latin typeface="Aptos"/>
              </a:rPr>
              <a:t>Each MVP can be used independently by its target users, while sharing the same Athena Core, knowledge base, and workflow governance.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057400"/>
            <a:ext cx="3566160" cy="3337560"/>
          </a:xfrm>
          <a:prstGeom prst="roundRect">
            <a:avLst/>
          </a:prstGeom>
          <a:solidFill>
            <a:srgbClr val="F7F9FA"/>
          </a:solidFill>
          <a:ln w="10160">
            <a:solidFill>
              <a:srgbClr val="DA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2057400"/>
            <a:ext cx="54864" cy="3337560"/>
          </a:xfrm>
          <a:prstGeom prst="rect">
            <a:avLst/>
          </a:prstGeom>
          <a:solidFill>
            <a:srgbClr val="C41E3A"/>
          </a:solidFill>
          <a:ln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2203704"/>
            <a:ext cx="3218688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450" b="1">
                <a:solidFill>
                  <a:srgbClr val="1F2933"/>
                </a:solidFill>
                <a:latin typeface="Aptos"/>
              </a:rPr>
              <a:t>Design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679192"/>
            <a:ext cx="3218688" cy="256946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140" b="0">
                <a:solidFill>
                  <a:srgbClr val="1F2933"/>
                </a:solidFill>
                <a:latin typeface="Aptos"/>
              </a:rPr>
              <a:t>Users: designers, ODM teams, application engineers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140" b="0">
                <a:solidFill>
                  <a:srgbClr val="1F2933"/>
                </a:solidFill>
                <a:latin typeface="Aptos"/>
              </a:rPr>
              <a:t>Value: design-to-sample efficiency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140" b="0">
                <a:solidFill>
                  <a:srgbClr val="1F2933"/>
                </a:solidFill>
                <a:latin typeface="Aptos"/>
              </a:rPr>
              <a:t>First proof: yarn, structure, fabric effect, and manufacturability recommendation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62272" y="2057400"/>
            <a:ext cx="3566160" cy="3337560"/>
          </a:xfrm>
          <a:prstGeom prst="roundRect">
            <a:avLst/>
          </a:prstGeom>
          <a:solidFill>
            <a:srgbClr val="F7F9FA"/>
          </a:solidFill>
          <a:ln w="10160">
            <a:solidFill>
              <a:srgbClr val="DA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62272" y="2057400"/>
            <a:ext cx="54864" cy="3337560"/>
          </a:xfrm>
          <a:prstGeom prst="rect">
            <a:avLst/>
          </a:prstGeom>
          <a:solidFill>
            <a:srgbClr val="11746F"/>
          </a:solidFill>
          <a:ln>
            <a:solidFill>
              <a:srgbClr val="1174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63440" y="2203704"/>
            <a:ext cx="3218688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450" b="1">
                <a:solidFill>
                  <a:srgbClr val="1F2933"/>
                </a:solidFill>
                <a:latin typeface="Aptos"/>
              </a:rPr>
              <a:t>Production 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679192"/>
            <a:ext cx="3218688" cy="256946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140" b="0">
                <a:solidFill>
                  <a:srgbClr val="1F2933"/>
                </a:solidFill>
                <a:latin typeface="Aptos"/>
              </a:rPr>
              <a:t>Users: OEM owners, production managers, planners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140" b="0">
                <a:solidFill>
                  <a:srgbClr val="1F2933"/>
                </a:solidFill>
                <a:latin typeface="Aptos"/>
              </a:rPr>
              <a:t>Value: order acceptance, ROI, capacity, and scheduling decisions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140" b="0">
                <a:solidFill>
                  <a:srgbClr val="1F2933"/>
                </a:solidFill>
                <a:latin typeface="Aptos"/>
              </a:rPr>
              <a:t>First proof: ROI calculator and order decision assistant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2057400"/>
            <a:ext cx="3566160" cy="3337560"/>
          </a:xfrm>
          <a:prstGeom prst="roundRect">
            <a:avLst/>
          </a:prstGeom>
          <a:solidFill>
            <a:srgbClr val="F7F9FA"/>
          </a:solidFill>
          <a:ln w="10160">
            <a:solidFill>
              <a:srgbClr val="DA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29600" y="2057400"/>
            <a:ext cx="54864" cy="3337560"/>
          </a:xfrm>
          <a:prstGeom prst="rect">
            <a:avLst/>
          </a:prstGeom>
          <a:solidFill>
            <a:srgbClr val="327E58"/>
          </a:solidFill>
          <a:ln>
            <a:solidFill>
              <a:srgbClr val="327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30768" y="2203704"/>
            <a:ext cx="3218688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450" b="1">
                <a:solidFill>
                  <a:srgbClr val="1F2933"/>
                </a:solidFill>
                <a:latin typeface="Aptos"/>
              </a:rPr>
              <a:t>Service 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0768" y="2679192"/>
            <a:ext cx="3218688" cy="256946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140" b="0">
                <a:solidFill>
                  <a:srgbClr val="1F2933"/>
                </a:solidFill>
                <a:latin typeface="Aptos"/>
              </a:rPr>
              <a:t>Users: customer engineers, Santoni service teams, agents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140" b="0">
                <a:solidFill>
                  <a:srgbClr val="1F2933"/>
                </a:solidFill>
                <a:latin typeface="Aptos"/>
              </a:rPr>
              <a:t>Value: faster diagnosis and better service knowledge reuse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140" b="0">
                <a:solidFill>
                  <a:srgbClr val="1F2933"/>
                </a:solidFill>
                <a:latin typeface="Aptos"/>
              </a:rPr>
              <a:t>First proof: alarm diagnosis, troubleshooting, and case retrieval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73952"/>
            <a:ext cx="68580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707C87"/>
                </a:solidFill>
                <a:latin typeface="Aptos"/>
              </a:rPr>
              <a:t>Athena | AI Knitting 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6473952"/>
            <a:ext cx="7315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707C87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47472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2500" b="1">
                <a:solidFill>
                  <a:srgbClr val="1F2933"/>
                </a:solidFill>
                <a:latin typeface="Aptos"/>
              </a:rPr>
              <a:t>MVP Track 1: Design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69848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50" b="0">
                <a:solidFill>
                  <a:srgbClr val="525E69"/>
                </a:solidFill>
                <a:latin typeface="Aptos"/>
              </a:rPr>
              <a:t>Design request to engineering-ready brief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11064240" cy="18288"/>
          </a:xfrm>
          <a:prstGeom prst="rect">
            <a:avLst/>
          </a:prstGeom>
          <a:solidFill>
            <a:srgbClr val="C41E3A"/>
          </a:solidFill>
          <a:ln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89888"/>
            <a:ext cx="10972800" cy="45262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700" b="0">
                <a:solidFill>
                  <a:srgbClr val="1F2933"/>
                </a:solidFill>
                <a:latin typeface="Aptos"/>
              </a:rPr>
              <a:t>Starting point: customer design intent, product function, reference image, Style3D/CLO/AI image input, or Arachne parameterized design.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700" b="0">
                <a:solidFill>
                  <a:srgbClr val="1F2933"/>
                </a:solidFill>
                <a:latin typeface="Aptos"/>
              </a:rPr>
              <a:t>Core output: recommended yarn, fabric structure, knitting feasibility, likely handfeel/performance, and engineering brief for sampling.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700" b="0">
                <a:solidFill>
                  <a:srgbClr val="1F2933"/>
                </a:solidFill>
                <a:latin typeface="Aptos"/>
              </a:rPr>
              <a:t>Arachne Knit Pilot can become the first visual and parameterized design entry for MVP demos.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700" b="0">
                <a:solidFill>
                  <a:srgbClr val="1F2933"/>
                </a:solidFill>
                <a:latin typeface="Aptos"/>
              </a:rPr>
              <a:t>SWS remains an advanced future package for richer sampling logic, simulation, and professional design workflow.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700" b="0">
                <a:solidFill>
                  <a:srgbClr val="1F2933"/>
                </a:solidFill>
                <a:latin typeface="Aptos"/>
              </a:rPr>
              <a:t>Required knowledge base: yarn library, fabric structure library, swatch library, garment library, and performance test data.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68580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707C87"/>
                </a:solidFill>
                <a:latin typeface="Aptos"/>
              </a:rPr>
              <a:t>Athena | AI Knitting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7315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707C87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47472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2500" b="1">
                <a:solidFill>
                  <a:srgbClr val="1F2933"/>
                </a:solidFill>
                <a:latin typeface="Aptos"/>
              </a:rPr>
              <a:t>MVP Track 2: Production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69848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50" b="0">
                <a:solidFill>
                  <a:srgbClr val="525E69"/>
                </a:solidFill>
                <a:latin typeface="Aptos"/>
              </a:rPr>
              <a:t>Order acceptance, ROI, and scheduling intelligence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11064240" cy="18288"/>
          </a:xfrm>
          <a:prstGeom prst="rect">
            <a:avLst/>
          </a:prstGeom>
          <a:solidFill>
            <a:srgbClr val="C41E3A"/>
          </a:solidFill>
          <a:ln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89888"/>
            <a:ext cx="10972800" cy="45262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700" b="0">
                <a:solidFill>
                  <a:srgbClr val="1F2933"/>
                </a:solidFill>
                <a:latin typeface="Aptos"/>
              </a:rPr>
              <a:t>Starting point: incoming order, product specification, delivery date, available machines, material readiness, capacity, cost, and historical performance.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700" b="0">
                <a:solidFill>
                  <a:srgbClr val="1F2933"/>
                </a:solidFill>
                <a:latin typeface="Aptos"/>
              </a:rPr>
              <a:t>Core output: accept / reject / renegotiate recommendation, expected ROI, risk factors, bottleneck forecast, and suggested production plan.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700" b="0">
                <a:solidFill>
                  <a:srgbClr val="1F2933"/>
                </a:solidFill>
                <a:latin typeface="Aptos"/>
              </a:rPr>
              <a:t>APS can provide the production planning context; IoT can later provide machine status and execution feedback.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700" b="0">
                <a:solidFill>
                  <a:srgbClr val="1F2933"/>
                </a:solidFill>
                <a:latin typeface="Aptos"/>
              </a:rPr>
              <a:t>First MVP should start with ROI and order decision logic before full automation.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700" b="0">
                <a:solidFill>
                  <a:srgbClr val="1F2933"/>
                </a:solidFill>
                <a:latin typeface="Aptos"/>
              </a:rPr>
              <a:t>Business value: help OEM owners decide which orders are worth taking and how to improve profitability.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68580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707C87"/>
                </a:solidFill>
                <a:latin typeface="Aptos"/>
              </a:rPr>
              <a:t>Athena | AI Knitting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7315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707C87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47472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2500" b="1">
                <a:solidFill>
                  <a:srgbClr val="1F2933"/>
                </a:solidFill>
                <a:latin typeface="Aptos"/>
              </a:rPr>
              <a:t>MVP Track 3: Service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69848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50" b="0">
                <a:solidFill>
                  <a:srgbClr val="525E69"/>
                </a:solidFill>
                <a:latin typeface="Aptos"/>
              </a:rPr>
              <a:t>Fast diagnosis and service knowledge reuse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11064240" cy="18288"/>
          </a:xfrm>
          <a:prstGeom prst="rect">
            <a:avLst/>
          </a:prstGeom>
          <a:solidFill>
            <a:srgbClr val="C41E3A"/>
          </a:solidFill>
          <a:ln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89888"/>
            <a:ext cx="10972800" cy="45262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700" b="0">
                <a:solidFill>
                  <a:srgbClr val="1F2933"/>
                </a:solidFill>
                <a:latin typeface="Aptos"/>
              </a:rPr>
              <a:t>Starting point: machine model, alarm code, symptom, customer description, images/videos, IoT status, and historical service cases.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700" b="0">
                <a:solidFill>
                  <a:srgbClr val="1F2933"/>
                </a:solidFill>
                <a:latin typeface="Aptos"/>
              </a:rPr>
              <a:t>Core output: likely root cause, troubleshooting steps, safety reminders, required parts/tools, escalation path, and case summary.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700" b="0">
                <a:solidFill>
                  <a:srgbClr val="1F2933"/>
                </a:solidFill>
                <a:latin typeface="Aptos"/>
              </a:rPr>
              <a:t>This is the fastest MVP to build because it can begin with manuals, alarm codes, and service case retrieval before deep system integration.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700" b="0">
                <a:solidFill>
                  <a:srgbClr val="1F2933"/>
                </a:solidFill>
                <a:latin typeface="Aptos"/>
              </a:rPr>
              <a:t>Later integration: Service System, IoT, spare parts, warranty, customer history, and remote support workflow.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700" b="0">
                <a:solidFill>
                  <a:srgbClr val="1F2933"/>
                </a:solidFill>
                <a:latin typeface="Aptos"/>
              </a:rPr>
              <a:t>Business value: shorter downtime, better first-time fix rate, and stronger Santoni service consistency.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68580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707C87"/>
                </a:solidFill>
                <a:latin typeface="Aptos"/>
              </a:rPr>
              <a:t>Athena | AI Knitting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7315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707C87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47472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2500" b="1">
                <a:solidFill>
                  <a:srgbClr val="1F2933"/>
                </a:solidFill>
                <a:latin typeface="Aptos"/>
              </a:rPr>
              <a:t>Roadmap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69848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50" b="0">
                <a:solidFill>
                  <a:srgbClr val="525E69"/>
                </a:solidFill>
                <a:latin typeface="Aptos"/>
              </a:rPr>
              <a:t>Start narrow, prove value, then connect more systems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11064240" cy="18288"/>
          </a:xfrm>
          <a:prstGeom prst="rect">
            <a:avLst/>
          </a:prstGeom>
          <a:solidFill>
            <a:srgbClr val="C41E3A"/>
          </a:solidFill>
          <a:ln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463040"/>
            <a:ext cx="2743200" cy="4251960"/>
          </a:xfrm>
          <a:prstGeom prst="roundRect">
            <a:avLst/>
          </a:prstGeom>
          <a:solidFill>
            <a:srgbClr val="F7F9FA"/>
          </a:solidFill>
          <a:ln w="10160">
            <a:solidFill>
              <a:srgbClr val="DA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463040"/>
            <a:ext cx="54864" cy="4251960"/>
          </a:xfrm>
          <a:prstGeom prst="rect">
            <a:avLst/>
          </a:prstGeom>
          <a:solidFill>
            <a:srgbClr val="C41E3A"/>
          </a:solidFill>
          <a:ln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609344"/>
            <a:ext cx="2395728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450" b="1">
                <a:solidFill>
                  <a:srgbClr val="1F2933"/>
                </a:solidFill>
                <a:latin typeface="Aptos"/>
              </a:rPr>
              <a:t>Phase 1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450" b="1">
                <a:solidFill>
                  <a:srgbClr val="1F2933"/>
                </a:solidFill>
                <a:latin typeface="Aptos"/>
              </a:rPr>
              <a:t>MVP proof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084832"/>
            <a:ext cx="2395728" cy="348386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140" b="0">
                <a:solidFill>
                  <a:srgbClr val="1F2933"/>
                </a:solidFill>
                <a:latin typeface="Aptos"/>
              </a:rPr>
              <a:t>Three independent tracks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140" b="0">
                <a:solidFill>
                  <a:srgbClr val="1F2933"/>
                </a:solidFill>
                <a:latin typeface="Aptos"/>
              </a:rPr>
              <a:t>Text-based workflow demo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140" b="0">
                <a:solidFill>
                  <a:srgbClr val="1F2933"/>
                </a:solidFill>
                <a:latin typeface="Aptos"/>
              </a:rPr>
              <a:t>Knowledge base prototype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140" b="0">
                <a:solidFill>
                  <a:srgbClr val="1F2933"/>
                </a:solidFill>
                <a:latin typeface="Aptos"/>
              </a:rPr>
              <a:t>Arachne/Web as practical entries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39312" y="1463040"/>
            <a:ext cx="2743200" cy="4251960"/>
          </a:xfrm>
          <a:prstGeom prst="roundRect">
            <a:avLst/>
          </a:prstGeom>
          <a:solidFill>
            <a:srgbClr val="F7F9FA"/>
          </a:solidFill>
          <a:ln w="10160">
            <a:solidFill>
              <a:srgbClr val="DA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39312" y="1463040"/>
            <a:ext cx="54864" cy="4251960"/>
          </a:xfrm>
          <a:prstGeom prst="rect">
            <a:avLst/>
          </a:prstGeom>
          <a:solidFill>
            <a:srgbClr val="11746F"/>
          </a:solidFill>
          <a:ln>
            <a:solidFill>
              <a:srgbClr val="1174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40480" y="1609344"/>
            <a:ext cx="2395728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450" b="1">
                <a:solidFill>
                  <a:srgbClr val="1F2933"/>
                </a:solidFill>
                <a:latin typeface="Aptos"/>
              </a:rPr>
              <a:t>Phase 2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450" b="1">
                <a:solidFill>
                  <a:srgbClr val="1F2933"/>
                </a:solidFill>
                <a:latin typeface="Aptos"/>
              </a:rPr>
              <a:t>Data connection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2084832"/>
            <a:ext cx="2395728" cy="348386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140" b="0">
                <a:solidFill>
                  <a:srgbClr val="1F2933"/>
                </a:solidFill>
                <a:latin typeface="Aptos"/>
              </a:rPr>
              <a:t>Service cases and manuals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140" b="0">
                <a:solidFill>
                  <a:srgbClr val="1F2933"/>
                </a:solidFill>
                <a:latin typeface="Aptos"/>
              </a:rPr>
              <a:t>Yarn/fabric/swatch/test data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140" b="0">
                <a:solidFill>
                  <a:srgbClr val="1F2933"/>
                </a:solidFill>
                <a:latin typeface="Aptos"/>
              </a:rPr>
              <a:t>APS and IoT selected data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140" b="0">
                <a:solidFill>
                  <a:srgbClr val="1F2933"/>
                </a:solidFill>
                <a:latin typeface="Aptos"/>
              </a:rPr>
              <a:t>CRM/CPQ context by use case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01968" y="1463040"/>
            <a:ext cx="2743200" cy="4251960"/>
          </a:xfrm>
          <a:prstGeom prst="roundRect">
            <a:avLst/>
          </a:prstGeom>
          <a:solidFill>
            <a:srgbClr val="F7F9FA"/>
          </a:solidFill>
          <a:ln w="10160">
            <a:solidFill>
              <a:srgbClr val="DA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601968" y="1463040"/>
            <a:ext cx="54864" cy="4251960"/>
          </a:xfrm>
          <a:prstGeom prst="rect">
            <a:avLst/>
          </a:prstGeom>
          <a:solidFill>
            <a:srgbClr val="327E58"/>
          </a:solidFill>
          <a:ln>
            <a:solidFill>
              <a:srgbClr val="327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03136" y="1609344"/>
            <a:ext cx="2395728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450" b="1">
                <a:solidFill>
                  <a:srgbClr val="1F2933"/>
                </a:solidFill>
                <a:latin typeface="Aptos"/>
              </a:rPr>
              <a:t>Phase 3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450" b="1">
                <a:solidFill>
                  <a:srgbClr val="1F2933"/>
                </a:solidFill>
                <a:latin typeface="Aptos"/>
              </a:rPr>
              <a:t>Pilot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03136" y="2084832"/>
            <a:ext cx="2395728" cy="348386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140" b="0">
                <a:solidFill>
                  <a:srgbClr val="1F2933"/>
                </a:solidFill>
                <a:latin typeface="Aptos"/>
              </a:rPr>
              <a:t>Internal pilot first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140" b="0">
                <a:solidFill>
                  <a:srgbClr val="1F2933"/>
                </a:solidFill>
                <a:latin typeface="Aptos"/>
              </a:rPr>
              <a:t>Friendly customer pilot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140" b="0">
                <a:solidFill>
                  <a:srgbClr val="1F2933"/>
                </a:solidFill>
                <a:latin typeface="Aptos"/>
              </a:rPr>
              <a:t>ROI and adoption metrics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140" b="0">
                <a:solidFill>
                  <a:srgbClr val="1F2933"/>
                </a:solidFill>
                <a:latin typeface="Aptos"/>
              </a:rPr>
              <a:t>Security and governance hardening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55480" y="1463040"/>
            <a:ext cx="2560320" cy="4251960"/>
          </a:xfrm>
          <a:prstGeom prst="roundRect">
            <a:avLst/>
          </a:prstGeom>
          <a:solidFill>
            <a:srgbClr val="F7F9FA"/>
          </a:solidFill>
          <a:ln w="10160">
            <a:solidFill>
              <a:srgbClr val="DA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555480" y="1463040"/>
            <a:ext cx="54864" cy="4251960"/>
          </a:xfrm>
          <a:prstGeom prst="rect">
            <a:avLst/>
          </a:prstGeom>
          <a:solidFill>
            <a:srgbClr val="525E69"/>
          </a:solidFill>
          <a:ln>
            <a:solidFill>
              <a:srgbClr val="525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756648" y="1609344"/>
            <a:ext cx="2212848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450" b="1">
                <a:solidFill>
                  <a:srgbClr val="1F2933"/>
                </a:solidFill>
                <a:latin typeface="Aptos"/>
              </a:rPr>
              <a:t>Phase 4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450" b="1">
                <a:solidFill>
                  <a:srgbClr val="1F2933"/>
                </a:solidFill>
                <a:latin typeface="Aptos"/>
              </a:rPr>
              <a:t>Commercial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56648" y="2084832"/>
            <a:ext cx="2212848" cy="348386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140" b="0">
                <a:solidFill>
                  <a:srgbClr val="1F2933"/>
                </a:solidFill>
                <a:latin typeface="Aptos"/>
              </a:rPr>
              <a:t>Basic / advanced packages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140" b="0">
                <a:solidFill>
                  <a:srgbClr val="1F2933"/>
                </a:solidFill>
                <a:latin typeface="Aptos"/>
              </a:rPr>
              <a:t>SWS advanced integration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140" b="0">
                <a:solidFill>
                  <a:srgbClr val="1F2933"/>
                </a:solidFill>
                <a:latin typeface="Aptos"/>
              </a:rPr>
              <a:t>Sales enablement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140" b="0">
                <a:solidFill>
                  <a:srgbClr val="1F2933"/>
                </a:solidFill>
                <a:latin typeface="Aptos"/>
              </a:rPr>
              <a:t>Repeatable deployment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73952"/>
            <a:ext cx="68580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707C87"/>
                </a:solidFill>
                <a:latin typeface="Aptos"/>
              </a:rPr>
              <a:t>Athena | AI Knitting Agent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01400" y="6473952"/>
            <a:ext cx="7315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707C87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2D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331720"/>
            <a:ext cx="1060704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Aptos"/>
              </a:rPr>
              <a:t>2. Project Schedule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2999232"/>
            <a:ext cx="978408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500" b="0">
                <a:solidFill>
                  <a:srgbClr val="DAE6EC"/>
                </a:solidFill>
                <a:latin typeface="Aptos"/>
              </a:rPr>
              <a:t>A practical timeline from v1.0 alignment to customer 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68580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850" b="0">
                <a:solidFill>
                  <a:srgbClr val="C4D3DD"/>
                </a:solidFill>
                <a:latin typeface="Aptos"/>
              </a:rPr>
              <a:t>Athena | Belotti Presentation Draft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7315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500"/>
              </a:spcAft>
            </a:pPr>
            <a:r>
              <a:rPr sz="850" b="0">
                <a:solidFill>
                  <a:srgbClr val="C4D3DD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47472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2500" b="1">
                <a:solidFill>
                  <a:srgbClr val="1F2933"/>
                </a:solidFill>
                <a:latin typeface="Aptos"/>
              </a:rPr>
              <a:t>Proposed Schedule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69848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50" b="0">
                <a:solidFill>
                  <a:srgbClr val="525E69"/>
                </a:solidFill>
                <a:latin typeface="Aptos"/>
              </a:rPr>
              <a:t>Draft timeline for alignment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11064240" cy="18288"/>
          </a:xfrm>
          <a:prstGeom prst="rect">
            <a:avLst/>
          </a:prstGeom>
          <a:solidFill>
            <a:srgbClr val="C41E3A"/>
          </a:solidFill>
          <a:ln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371600"/>
          <a:ext cx="109728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220" b="1">
                          <a:solidFill>
                            <a:srgbClr val="FFFFFF"/>
                          </a:solidFill>
                          <a:latin typeface="Aptos"/>
                        </a:rPr>
                        <a:t>Period</a:t>
                      </a:r>
                    </a:p>
                  </a:txBody>
                  <a:tcPr marL="73152" marR="73152" marT="45720" marB="45720">
                    <a:solidFill>
                      <a:srgbClr val="C41E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220" b="1">
                          <a:solidFill>
                            <a:srgbClr val="FFFFFF"/>
                          </a:solidFill>
                          <a:latin typeface="Aptos"/>
                        </a:rPr>
                        <a:t>Key work</a:t>
                      </a:r>
                    </a:p>
                  </a:txBody>
                  <a:tcPr marL="73152" marR="73152" marT="45720" marB="45720">
                    <a:solidFill>
                      <a:srgbClr val="C41E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1F2933"/>
                          </a:solidFill>
                          <a:latin typeface="Aptos"/>
                        </a:rPr>
                        <a:t>June 2026</a:t>
                      </a:r>
                    </a:p>
                  </a:txBody>
                  <a:tcPr marL="73152" marR="73152" marT="45720" marB="45720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1F2933"/>
                          </a:solidFill>
                          <a:latin typeface="Aptos"/>
                        </a:rPr>
                        <a:t>Architecture v1.0 alignment; confirm three MVP tracks; assign owners; define MVP data boundaries.</a:t>
                      </a:r>
                    </a:p>
                  </a:txBody>
                  <a:tcPr marL="73152" marR="73152" marT="45720" marB="45720">
                    <a:solidFill>
                      <a:srgbClr val="FBFC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1F2933"/>
                          </a:solidFill>
                          <a:latin typeface="Aptos"/>
                        </a:rPr>
                        <a:t>July 2026</a:t>
                      </a:r>
                    </a:p>
                  </a:txBody>
                  <a:tcPr marL="73152" marR="73152" marT="45720" marB="45720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1F2933"/>
                          </a:solidFill>
                          <a:latin typeface="Aptos"/>
                        </a:rPr>
                        <a:t>Build workflow templates; define data schemas; prepare knowledge base ingestion; start Design and Service prototypes.</a:t>
                      </a:r>
                    </a:p>
                  </a:txBody>
                  <a:tcPr marL="73152" marR="73152" marT="45720" marB="45720">
                    <a:solidFill>
                      <a:srgbClr val="F7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1F2933"/>
                          </a:solidFill>
                          <a:latin typeface="Aptos"/>
                        </a:rPr>
                        <a:t>August 2026</a:t>
                      </a:r>
                    </a:p>
                  </a:txBody>
                  <a:tcPr marL="73152" marR="73152" marT="45720" marB="45720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1F2933"/>
                          </a:solidFill>
                          <a:latin typeface="Aptos"/>
                        </a:rPr>
                        <a:t>Internal demo: Design Agent + Service Agent; Production Agent ROI prototype; Arachne entry test.</a:t>
                      </a:r>
                    </a:p>
                  </a:txBody>
                  <a:tcPr marL="73152" marR="73152" marT="45720" marB="45720">
                    <a:solidFill>
                      <a:srgbClr val="FBFC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1F2933"/>
                          </a:solidFill>
                          <a:latin typeface="Aptos"/>
                        </a:rPr>
                        <a:t>September 2026</a:t>
                      </a:r>
                    </a:p>
                  </a:txBody>
                  <a:tcPr marL="73152" marR="73152" marT="45720" marB="45720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1F2933"/>
                          </a:solidFill>
                          <a:latin typeface="Aptos"/>
                        </a:rPr>
                        <a:t>Internal pilot with Sales, Service, Application, Arachne, APS, and IoT teams; collect feedback and metrics.</a:t>
                      </a:r>
                    </a:p>
                  </a:txBody>
                  <a:tcPr marL="73152" marR="73152" marT="45720" marB="45720">
                    <a:solidFill>
                      <a:srgbClr val="F7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1F2933"/>
                          </a:solidFill>
                          <a:latin typeface="Aptos"/>
                        </a:rPr>
                        <a:t>Q4 2026</a:t>
                      </a:r>
                    </a:p>
                  </a:txBody>
                  <a:tcPr marL="73152" marR="73152" marT="45720" marB="45720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1F2933"/>
                          </a:solidFill>
                          <a:latin typeface="Aptos"/>
                        </a:rPr>
                        <a:t>Selected customer pilot; connect limited live data; validate ROI, adoption, service efficiency, and deployment model.</a:t>
                      </a:r>
                    </a:p>
                  </a:txBody>
                  <a:tcPr marL="73152" marR="73152" marT="45720" marB="45720">
                    <a:solidFill>
                      <a:srgbClr val="FBFC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1F2933"/>
                          </a:solidFill>
                          <a:latin typeface="Aptos"/>
                        </a:rPr>
                        <a:t>2027</a:t>
                      </a:r>
                    </a:p>
                  </a:txBody>
                  <a:tcPr marL="73152" marR="73152" marT="45720" marB="45720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1F2933"/>
                          </a:solidFill>
                          <a:latin typeface="Aptos"/>
                        </a:rPr>
                        <a:t>Commercial package definition; advanced SWS package; broader rollout and GTM enablement.</a:t>
                      </a:r>
                    </a:p>
                  </a:txBody>
                  <a:tcPr marL="73152" marR="73152" marT="45720" marB="45720">
                    <a:solidFill>
                      <a:srgbClr val="F7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6473952"/>
            <a:ext cx="68580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707C87"/>
                </a:solidFill>
                <a:latin typeface="Aptos"/>
              </a:rPr>
              <a:t>Athena | AI Knitting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7315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707C87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47472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2500" b="1">
                <a:solidFill>
                  <a:srgbClr val="1F2933"/>
                </a:solidFill>
                <a:latin typeface="Aptos"/>
              </a:rPr>
              <a:t>Current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69848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50" b="0">
                <a:solidFill>
                  <a:srgbClr val="525E69"/>
                </a:solidFill>
                <a:latin typeface="Aptos"/>
              </a:rPr>
              <a:t>Where we are today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11064240" cy="18288"/>
          </a:xfrm>
          <a:prstGeom prst="rect">
            <a:avLst/>
          </a:prstGeom>
          <a:solidFill>
            <a:srgbClr val="C41E3A"/>
          </a:solidFill>
          <a:ln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972800" cy="44805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700" b="0">
                <a:solidFill>
                  <a:srgbClr val="1F2933"/>
                </a:solidFill>
                <a:latin typeface="Aptos"/>
              </a:rPr>
              <a:t>Athena architecture v1.0 has been defined and documented.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700" b="0">
                <a:solidFill>
                  <a:srgbClr val="1F2933"/>
                </a:solidFill>
                <a:latin typeface="Aptos"/>
              </a:rPr>
              <a:t>Athena and Arachne naming is clarified: Athena is the AI platform; Arachne Knit Pilot is the customer-facing parameterized design entry.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700" b="0">
                <a:solidFill>
                  <a:srgbClr val="1F2933"/>
                </a:solidFill>
                <a:latin typeface="Aptos"/>
              </a:rPr>
              <a:t>Key systems and data sources are identified: CRM, CPQ, Service System, APS, IoT, Arachne, SWS, and external intelligence sources.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700" b="0">
                <a:solidFill>
                  <a:srgbClr val="1F2933"/>
                </a:solidFill>
                <a:latin typeface="Aptos"/>
              </a:rPr>
              <a:t>Knowledge base scope is defined: machine alarms, service diagnosis, service cases, yarn, fabric structures, swatches, garment products, manuals, and performance tests.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700" b="0">
                <a:solidFill>
                  <a:srgbClr val="1F2933"/>
                </a:solidFill>
                <a:latin typeface="Aptos"/>
              </a:rPr>
              <a:t>Project progress management has been created, but module status still needs department owner confirmation and data-driven updating.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68580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707C87"/>
                </a:solidFill>
                <a:latin typeface="Aptos"/>
              </a:rPr>
              <a:t>Athena | AI Knitting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7315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707C87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47472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2500" b="1">
                <a:solidFill>
                  <a:srgbClr val="1F2933"/>
                </a:solidFill>
                <a:latin typeface="Aptos"/>
              </a:rPr>
              <a:t>Key Risks and Mitigation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69848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50" b="0">
                <a:solidFill>
                  <a:srgbClr val="525E69"/>
                </a:solidFill>
                <a:latin typeface="Aptos"/>
              </a:rPr>
              <a:t>Main points to manage before customer pilot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11064240" cy="18288"/>
          </a:xfrm>
          <a:prstGeom prst="rect">
            <a:avLst/>
          </a:prstGeom>
          <a:solidFill>
            <a:srgbClr val="C41E3A"/>
          </a:solidFill>
          <a:ln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2834640" cy="4297680"/>
          </a:xfrm>
          <a:prstGeom prst="roundRect">
            <a:avLst/>
          </a:prstGeom>
          <a:solidFill>
            <a:srgbClr val="F7F9FA"/>
          </a:solidFill>
          <a:ln w="10160">
            <a:solidFill>
              <a:srgbClr val="DA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54864" cy="4297680"/>
          </a:xfrm>
          <a:prstGeom prst="rect">
            <a:avLst/>
          </a:prstGeom>
          <a:solidFill>
            <a:srgbClr val="C41E3A"/>
          </a:solidFill>
          <a:ln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1563624"/>
            <a:ext cx="2487168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450" b="1">
                <a:solidFill>
                  <a:srgbClr val="1F2933"/>
                </a:solidFill>
                <a:latin typeface="Aptos"/>
              </a:rPr>
              <a:t>Scope creep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039112"/>
            <a:ext cx="2487168" cy="35295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140" b="0">
                <a:solidFill>
                  <a:srgbClr val="1F2933"/>
                </a:solidFill>
                <a:latin typeface="Aptos"/>
              </a:rPr>
              <a:t>Keep three MVP tracks separate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140" b="0">
                <a:solidFill>
                  <a:srgbClr val="1F2933"/>
                </a:solidFill>
                <a:latin typeface="Aptos"/>
              </a:rPr>
              <a:t>Define clear first user and first output for each track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140" b="0">
                <a:solidFill>
                  <a:srgbClr val="1F2933"/>
                </a:solidFill>
                <a:latin typeface="Aptos"/>
              </a:rPr>
              <a:t>Avoid full system integration as the first milestone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80" y="1417320"/>
            <a:ext cx="2834640" cy="4297680"/>
          </a:xfrm>
          <a:prstGeom prst="roundRect">
            <a:avLst/>
          </a:prstGeom>
          <a:solidFill>
            <a:srgbClr val="F7F9FA"/>
          </a:solidFill>
          <a:ln w="10160">
            <a:solidFill>
              <a:srgbClr val="DA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11880" y="1417320"/>
            <a:ext cx="54864" cy="4297680"/>
          </a:xfrm>
          <a:prstGeom prst="rect">
            <a:avLst/>
          </a:prstGeom>
          <a:solidFill>
            <a:srgbClr val="11746F"/>
          </a:solidFill>
          <a:ln>
            <a:solidFill>
              <a:srgbClr val="1174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13048" y="1563624"/>
            <a:ext cx="2487168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450" b="1">
                <a:solidFill>
                  <a:srgbClr val="1F2933"/>
                </a:solidFill>
                <a:latin typeface="Aptos"/>
              </a:rPr>
              <a:t>Data quality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13048" y="2039112"/>
            <a:ext cx="2487168" cy="35295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140" b="0">
                <a:solidFill>
                  <a:srgbClr val="1F2933"/>
                </a:solidFill>
                <a:latin typeface="Aptos"/>
              </a:rPr>
              <a:t>Start with curated data sets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140" b="0">
                <a:solidFill>
                  <a:srgbClr val="1F2933"/>
                </a:solidFill>
                <a:latin typeface="Aptos"/>
              </a:rPr>
              <a:t>Use standard schemas for yarn, fabric, swatch, test, alarm, and service cases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140" b="0">
                <a:solidFill>
                  <a:srgbClr val="1F2933"/>
                </a:solidFill>
                <a:latin typeface="Aptos"/>
              </a:rPr>
              <a:t>Track confidence and source for every answer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1417320"/>
            <a:ext cx="2834640" cy="4297680"/>
          </a:xfrm>
          <a:prstGeom prst="roundRect">
            <a:avLst/>
          </a:prstGeom>
          <a:solidFill>
            <a:srgbClr val="F7F9FA"/>
          </a:solidFill>
          <a:ln w="10160">
            <a:solidFill>
              <a:srgbClr val="DA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583680" y="1417320"/>
            <a:ext cx="54864" cy="4297680"/>
          </a:xfrm>
          <a:prstGeom prst="rect">
            <a:avLst/>
          </a:prstGeom>
          <a:solidFill>
            <a:srgbClr val="327E58"/>
          </a:solidFill>
          <a:ln>
            <a:solidFill>
              <a:srgbClr val="327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784848" y="1563624"/>
            <a:ext cx="2487168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450" b="1">
                <a:solidFill>
                  <a:srgbClr val="1F2933"/>
                </a:solidFill>
                <a:latin typeface="Aptos"/>
              </a:rPr>
              <a:t>Adoption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84848" y="2039112"/>
            <a:ext cx="2487168" cy="35295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140" b="0">
                <a:solidFill>
                  <a:srgbClr val="1F2933"/>
                </a:solidFill>
                <a:latin typeface="Aptos"/>
              </a:rPr>
              <a:t>Design for real users, not only demos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140" b="0">
                <a:solidFill>
                  <a:srgbClr val="1F2933"/>
                </a:solidFill>
                <a:latin typeface="Aptos"/>
              </a:rPr>
              <a:t>Show personal benefit for planners, engineers, and service teams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140" b="0">
                <a:solidFill>
                  <a:srgbClr val="1F2933"/>
                </a:solidFill>
                <a:latin typeface="Aptos"/>
              </a:rPr>
              <a:t>Measure time saved and decision quality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55480" y="1417320"/>
            <a:ext cx="2514600" cy="4297680"/>
          </a:xfrm>
          <a:prstGeom prst="roundRect">
            <a:avLst/>
          </a:prstGeom>
          <a:solidFill>
            <a:srgbClr val="F7F9FA"/>
          </a:solidFill>
          <a:ln w="10160">
            <a:solidFill>
              <a:srgbClr val="DA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555480" y="1417320"/>
            <a:ext cx="54864" cy="4297680"/>
          </a:xfrm>
          <a:prstGeom prst="rect">
            <a:avLst/>
          </a:prstGeom>
          <a:solidFill>
            <a:srgbClr val="525E69"/>
          </a:solidFill>
          <a:ln>
            <a:solidFill>
              <a:srgbClr val="525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756648" y="1563624"/>
            <a:ext cx="2167128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450" b="1">
                <a:solidFill>
                  <a:srgbClr val="1F2933"/>
                </a:solidFill>
                <a:latin typeface="Aptos"/>
              </a:rPr>
              <a:t>Security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56648" y="2039112"/>
            <a:ext cx="2167128" cy="35295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140" b="0">
                <a:solidFill>
                  <a:srgbClr val="1F2933"/>
                </a:solidFill>
                <a:latin typeface="Aptos"/>
              </a:rPr>
              <a:t>Internal deployment first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140" b="0">
                <a:solidFill>
                  <a:srgbClr val="1F2933"/>
                </a:solidFill>
                <a:latin typeface="Aptos"/>
              </a:rPr>
              <a:t>Customer pilot with controlled data access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140" b="0">
                <a:solidFill>
                  <a:srgbClr val="1F2933"/>
                </a:solidFill>
                <a:latin typeface="Aptos"/>
              </a:rPr>
              <a:t>Clear API and permission governance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73952"/>
            <a:ext cx="68580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707C87"/>
                </a:solidFill>
                <a:latin typeface="Aptos"/>
              </a:rPr>
              <a:t>Athena | AI Knitting Agent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01400" y="6473952"/>
            <a:ext cx="7315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707C87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2D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331720"/>
            <a:ext cx="1060704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Aptos"/>
              </a:rPr>
              <a:t>3. Support Needed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2999232"/>
            <a:ext cx="978408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500" b="0">
                <a:solidFill>
                  <a:srgbClr val="DAE6EC"/>
                </a:solidFill>
                <a:latin typeface="Aptos"/>
              </a:rPr>
              <a:t>Decisions and resources required to turn Athena into executable MVPs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68580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850" b="0">
                <a:solidFill>
                  <a:srgbClr val="C4D3DD"/>
                </a:solidFill>
                <a:latin typeface="Aptos"/>
              </a:rPr>
              <a:t>Athena | Belotti Presentation Draft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7315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500"/>
              </a:spcAft>
            </a:pPr>
            <a:r>
              <a:rPr sz="850" b="0">
                <a:solidFill>
                  <a:srgbClr val="C4D3DD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47472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2500" b="1">
                <a:solidFill>
                  <a:srgbClr val="1F2933"/>
                </a:solidFill>
                <a:latin typeface="Aptos"/>
              </a:rPr>
              <a:t>Support Needed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69848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50" b="0">
                <a:solidFill>
                  <a:srgbClr val="525E69"/>
                </a:solidFill>
                <a:latin typeface="Aptos"/>
              </a:rPr>
              <a:t>What we need from management and cross-functional teams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11064240" cy="18288"/>
          </a:xfrm>
          <a:prstGeom prst="rect">
            <a:avLst/>
          </a:prstGeom>
          <a:solidFill>
            <a:srgbClr val="C41E3A"/>
          </a:solidFill>
          <a:ln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972800" cy="46634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700" b="0">
                <a:solidFill>
                  <a:srgbClr val="1F2933"/>
                </a:solidFill>
                <a:latin typeface="Aptos"/>
              </a:rPr>
              <a:t>Strategic approval: confirm Athena as Santoni's AI workforce platform direction, not a side experiment.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700" b="0">
                <a:solidFill>
                  <a:srgbClr val="1F2933"/>
                </a:solidFill>
                <a:latin typeface="Aptos"/>
              </a:rPr>
              <a:t>MVP approval: confirm Design Agent, Production Agent, and Service Agent as the first three independent MVP tracks.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700" b="0">
                <a:solidFill>
                  <a:srgbClr val="1F2933"/>
                </a:solidFill>
                <a:latin typeface="Aptos"/>
              </a:rPr>
              <a:t>Owner assignment: appoint owners for Athena Core, Arachne, SWS, APS, IoT, Service System, CRM/CPQ, and each MVP track.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700" b="0">
                <a:solidFill>
                  <a:srgbClr val="1F2933"/>
                </a:solidFill>
                <a:latin typeface="Aptos"/>
              </a:rPr>
              <a:t>Data access: approve access to manuals, alarms, service cases, yarn/fabric/swatch/test data, selected order and production data, and pilot customer context.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700" b="0">
                <a:solidFill>
                  <a:srgbClr val="1F2933"/>
                </a:solidFill>
                <a:latin typeface="Aptos"/>
              </a:rPr>
              <a:t>Pilot resources: select internal pilot teams and 1-2 friendly customers for controlled validation.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700" b="0">
                <a:solidFill>
                  <a:srgbClr val="1F2933"/>
                </a:solidFill>
                <a:latin typeface="Aptos"/>
              </a:rPr>
              <a:t>Deployment support: start with internal/local server deployment; prepare secure customer pilot deployment after MVP validation.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700" b="0">
                <a:solidFill>
                  <a:srgbClr val="1F2933"/>
                </a:solidFill>
                <a:latin typeface="Aptos"/>
              </a:rPr>
              <a:t>Commercial support: define basic/advanced packages, pricing logic, GTM narrative, and sales enablement materials.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68580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707C87"/>
                </a:solidFill>
                <a:latin typeface="Aptos"/>
              </a:rPr>
              <a:t>Athena | AI Knitting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7315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707C87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47472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2500" b="1">
                <a:solidFill>
                  <a:srgbClr val="1F2933"/>
                </a:solidFill>
                <a:latin typeface="Aptos"/>
              </a:rPr>
              <a:t>Decision Points for Belotti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69848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50" b="0">
                <a:solidFill>
                  <a:srgbClr val="525E69"/>
                </a:solidFill>
                <a:latin typeface="Aptos"/>
              </a:rPr>
              <a:t>The meeting should end with executable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11064240" cy="18288"/>
          </a:xfrm>
          <a:prstGeom prst="rect">
            <a:avLst/>
          </a:prstGeom>
          <a:solidFill>
            <a:srgbClr val="C41E3A"/>
          </a:solidFill>
          <a:ln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972800" cy="4389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800" b="0">
                <a:solidFill>
                  <a:srgbClr val="1F2933"/>
                </a:solidFill>
                <a:latin typeface="Aptos"/>
              </a:rPr>
              <a:t>1. Confirm Athena as an official Santoni-level AI initiative.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800" b="0">
                <a:solidFill>
                  <a:srgbClr val="1F2933"/>
                </a:solidFill>
                <a:latin typeface="Aptos"/>
              </a:rPr>
              <a:t>2. Confirm the three MVP tracks: Design Agent, Production Agent, and Service Agent.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800" b="0">
                <a:solidFill>
                  <a:srgbClr val="1F2933"/>
                </a:solidFill>
                <a:latin typeface="Aptos"/>
              </a:rPr>
              <a:t>3. Confirm the first 90-day focus and success metrics for each MVP track.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800" b="0">
                <a:solidFill>
                  <a:srgbClr val="1F2933"/>
                </a:solidFill>
                <a:latin typeface="Aptos"/>
              </a:rPr>
              <a:t>4. Assign responsible owners and cross-functional contacts.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800" b="0">
                <a:solidFill>
                  <a:srgbClr val="1F2933"/>
                </a:solidFill>
                <a:latin typeface="Aptos"/>
              </a:rPr>
              <a:t>5. Approve priority data access and pilot customer preparation.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800" b="0">
                <a:solidFill>
                  <a:srgbClr val="1F2933"/>
                </a:solidFill>
                <a:latin typeface="Aptos"/>
              </a:rPr>
              <a:t>6. Agree on the next management checkpoint and demo date.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68580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707C87"/>
                </a:solidFill>
                <a:latin typeface="Aptos"/>
              </a:rPr>
              <a:t>Athena | AI Knitting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7315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707C87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2D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965960"/>
            <a:ext cx="1051560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ptos"/>
              </a:rPr>
              <a:t>Athena: from machine know-how to customer operating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2788920"/>
            <a:ext cx="9875520" cy="457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500" b="0">
                <a:solidFill>
                  <a:srgbClr val="DAE6EC"/>
                </a:solidFill>
                <a:latin typeface="Aptos"/>
              </a:rPr>
              <a:t>The MVP should prove value in three daily workflows: design, production, and service.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5440680"/>
            <a:ext cx="987552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50" b="0">
                <a:solidFill>
                  <a:srgbClr val="DAE6EC"/>
                </a:solidFill>
                <a:latin typeface="Aptos"/>
              </a:rPr>
              <a:t>Draft for discussion | 18 June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ntoni">
  <a:themeElements>
    <a:clrScheme name="自定义 5">
      <a:dk1>
        <a:srgbClr val="000000"/>
      </a:dk1>
      <a:lt1>
        <a:srgbClr val="000000"/>
      </a:lt1>
      <a:dk2>
        <a:srgbClr val="000000"/>
      </a:dk2>
      <a:lt2>
        <a:srgbClr val="000000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antoni Standard">
      <a:majorFont>
        <a:latin typeface="Arial"/>
        <a:ea typeface="思源黑体"/>
        <a:cs typeface=""/>
      </a:majorFont>
      <a:minorFont>
        <a:latin typeface="Arial"/>
        <a:ea typeface="思源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accent1">
                <a:shade val="30000"/>
                <a:satMod val="115000"/>
              </a:schemeClr>
            </a:gs>
            <a:gs pos="50000">
              <a:schemeClr val="accent1">
                <a:shade val="67500"/>
                <a:satMod val="115000"/>
              </a:schemeClr>
            </a:gs>
            <a:gs pos="100000">
              <a:schemeClr val="accent1">
                <a:shade val="100000"/>
                <a:satMod val="115000"/>
              </a:schemeClr>
            </a:gs>
          </a:gsLst>
          <a:lin ang="5400000" scaled="1"/>
          <a:tileRect/>
        </a:gradFill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Santoni" id="{11079FF6-C34A-4A1E-B09A-43A7D9DF39D0}" vid="{F46E94D6-4EDB-46FF-888C-4C7F599DCEF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2</TotalTime>
  <Words>1721</Words>
  <Application>Microsoft Office PowerPoint</Application>
  <PresentationFormat>宽屏</PresentationFormat>
  <Paragraphs>198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2" baseType="lpstr">
      <vt:lpstr>Aptos</vt:lpstr>
      <vt:lpstr>Arial</vt:lpstr>
      <vt:lpstr>Santoni</vt:lpstr>
      <vt:lpstr>AI Knitting Agent Roadmap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Joey.Chen</dc:creator>
  <cp:lastModifiedBy>Joey.Chen</cp:lastModifiedBy>
  <cp:revision>1</cp:revision>
  <dcterms:created xsi:type="dcterms:W3CDTF">2026-06-09T06:15:02Z</dcterms:created>
  <dcterms:modified xsi:type="dcterms:W3CDTF">2026-06-09T06:17:53Z</dcterms:modified>
</cp:coreProperties>
</file>